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4a2043d8ef4b0e" /><Relationship Type="http://schemas.openxmlformats.org/officeDocument/2006/relationships/extended-properties" Target="/docProps/app.xml" Id="R36056b1c7eca461a" /><Relationship Type="http://schemas.openxmlformats.org/officeDocument/2006/relationships/officeDocument" Target="/ppt/presentation.xml" Id="R42f28f4064fb4f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6388c92c39433b"/>
  </p:sldMasterIdLst>
  <p:notesMasterIdLst>
    <p:notesMasterId xmlns:r="http://schemas.openxmlformats.org/officeDocument/2006/relationships" r:id="Ra7e5c1814ba24960"/>
  </p:notesMasterIdLst>
  <p:sldIdLst>
    <p:sldId xmlns:r="http://schemas.openxmlformats.org/officeDocument/2006/relationships" id="256" r:id="Rbf412ad8b16343fe"/>
    <p:sldId xmlns:r="http://schemas.openxmlformats.org/officeDocument/2006/relationships" id="257" r:id="R3610dc363f184f1d"/>
    <p:sldId xmlns:r="http://schemas.openxmlformats.org/officeDocument/2006/relationships" id="258" r:id="R8038efb0cc334b13"/>
    <p:sldId xmlns:r="http://schemas.openxmlformats.org/officeDocument/2006/relationships" id="259" r:id="Rda9d882d78ce4230"/>
    <p:sldId xmlns:r="http://schemas.openxmlformats.org/officeDocument/2006/relationships" id="260" r:id="Rb96f424f2bbd4eaa"/>
    <p:sldId xmlns:r="http://schemas.openxmlformats.org/officeDocument/2006/relationships" id="261" r:id="Ra1b89a51604f4be0"/>
    <p:sldId xmlns:r="http://schemas.openxmlformats.org/officeDocument/2006/relationships" id="262" r:id="R7f224d2536274e0c"/>
    <p:sldId xmlns:r="http://schemas.openxmlformats.org/officeDocument/2006/relationships" id="263" r:id="Re06f8de448604b00"/>
    <p:sldId xmlns:r="http://schemas.openxmlformats.org/officeDocument/2006/relationships" id="264" r:id="Rcbc76658f99a431d"/>
    <p:sldId xmlns:r="http://schemas.openxmlformats.org/officeDocument/2006/relationships" id="265" r:id="Redb54ea586694f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2f60f4751b460e" /><Relationship Type="http://schemas.openxmlformats.org/officeDocument/2006/relationships/slideMaster" Target="/ppt/slideMasters/slideMaster1.xml" Id="R9e6388c92c39433b" /><Relationship Type="http://schemas.openxmlformats.org/officeDocument/2006/relationships/notesMaster" Target="/ppt/notesMasters/notesMaster1.xml" Id="Ra7e5c1814ba24960" /><Relationship Type="http://schemas.openxmlformats.org/officeDocument/2006/relationships/presProps" Target="/ppt/presProps.xml" Id="R82c8db305c66410d" /><Relationship Type="http://schemas.openxmlformats.org/officeDocument/2006/relationships/tableStyles" Target="/ppt/tableStyles.xml" Id="R46df9fbd9ed44fcc" /><Relationship Type="http://schemas.openxmlformats.org/officeDocument/2006/relationships/slide" Target="/ppt/slides/slide1.xml" Id="Rbf412ad8b16343fe" /><Relationship Type="http://schemas.openxmlformats.org/officeDocument/2006/relationships/slide" Target="/ppt/slides/slide2.xml" Id="R3610dc363f184f1d" /><Relationship Type="http://schemas.openxmlformats.org/officeDocument/2006/relationships/slide" Target="/ppt/slides/slide3.xml" Id="R8038efb0cc334b13" /><Relationship Type="http://schemas.openxmlformats.org/officeDocument/2006/relationships/slide" Target="/ppt/slides/slide4.xml" Id="Rda9d882d78ce4230" /><Relationship Type="http://schemas.openxmlformats.org/officeDocument/2006/relationships/slide" Target="/ppt/slides/slide5.xml" Id="Rb96f424f2bbd4eaa" /><Relationship Type="http://schemas.openxmlformats.org/officeDocument/2006/relationships/slide" Target="/ppt/slides/slide6.xml" Id="Ra1b89a51604f4be0" /><Relationship Type="http://schemas.openxmlformats.org/officeDocument/2006/relationships/slide" Target="/ppt/slides/slide7.xml" Id="R7f224d2536274e0c" /><Relationship Type="http://schemas.openxmlformats.org/officeDocument/2006/relationships/slide" Target="/ppt/slides/slide8.xml" Id="Re06f8de448604b00" /><Relationship Type="http://schemas.openxmlformats.org/officeDocument/2006/relationships/slide" Target="/ppt/slides/slide9.xml" Id="Rcbc76658f99a431d" /><Relationship Type="http://schemas.openxmlformats.org/officeDocument/2006/relationships/slide" Target="/ppt/slides/slide10.xml" Id="Redb54ea586694f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bef5936fb942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4727e44e2449d9" /><Relationship Type="http://schemas.openxmlformats.org/officeDocument/2006/relationships/notesMaster" Target="/ppt/notesMasters/notesMaster1.xml" Id="Rde4697b22cea4e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91d694b47e498d" /><Relationship Type="http://schemas.openxmlformats.org/officeDocument/2006/relationships/notesMaster" Target="/ppt/notesMasters/notesMaster1.xml" Id="Ra2b04cd65be944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afdaf556c548c1" /><Relationship Type="http://schemas.openxmlformats.org/officeDocument/2006/relationships/notesMaster" Target="/ppt/notesMasters/notesMaster1.xml" Id="R9fd4fe7da00b4e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387801cca94464" /><Relationship Type="http://schemas.openxmlformats.org/officeDocument/2006/relationships/notesMaster" Target="/ppt/notesMasters/notesMaster1.xml" Id="Re82923cc247044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998c044efb4187" /><Relationship Type="http://schemas.openxmlformats.org/officeDocument/2006/relationships/notesMaster" Target="/ppt/notesMasters/notesMaster1.xml" Id="R12fde600e86c4b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435fdf0778400c" /><Relationship Type="http://schemas.openxmlformats.org/officeDocument/2006/relationships/notesMaster" Target="/ppt/notesMasters/notesMaster1.xml" Id="Ra27e28c2f4ad4c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67e062af5b42a3" /><Relationship Type="http://schemas.openxmlformats.org/officeDocument/2006/relationships/notesMaster" Target="/ppt/notesMasters/notesMaster1.xml" Id="R1b43c8dbfa054b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d15c7d34604311" /><Relationship Type="http://schemas.openxmlformats.org/officeDocument/2006/relationships/notesMaster" Target="/ppt/notesMasters/notesMaster1.xml" Id="Rf7ab6175ae254a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8a6b5e41cf4e0d" /><Relationship Type="http://schemas.openxmlformats.org/officeDocument/2006/relationships/notesMaster" Target="/ppt/notesMasters/notesMaster1.xml" Id="Reefa408832a848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d91233f5cb46a5" /><Relationship Type="http://schemas.openxmlformats.org/officeDocument/2006/relationships/notesMaster" Target="/ppt/notesMasters/notesMaster1.xml" Id="Rf73fe1cfaf9441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Power_BI_project.xlsx, reviewed data/analysis/findings.json and population_sensitivity.csv. Comparable population: 1,671 complete, sequential funnel records with usable marketing cost. Counts are recorded customers, not deduplicated people. All findings are descriptive.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Power_BI_project.xlsx, reviewed data/analysis/findings.json and population_sensitivity.csv. Comparable population: 1,671 complete, sequential funnel records with usable marketing cost. Counts are recorded customers, not deduplicated people. All findings are descriptive.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Power_BI_project.xlsx, reviewed data/analysis/findings.json and population_sensitivity.csv. Comparable population: 1,671 complete, sequential funnel records with usable marketing cost. Counts are recorded customers, not deduplicated people. All findings are descriptive.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Power_BI_project.xlsx, reviewed data/analysis/findings.json and population_sensitivity.csv. Comparable population: 1,671 complete, sequential funnel records with usable marketing cost. Counts are recorded customers, not deduplicated people. All findings are descriptive.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Power_BI_project.xlsx, reviewed data/analysis/findings.json and population_sensitivity.csv. Comparable population: 1,671 complete, sequential funnel records with usable marketing cost. Counts are recorded customers, not deduplicated people. All findings are descriptive.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Power_BI_project.xlsx, reviewed data/analysis/findings.json and population_sensitivity.csv. Comparable population: 1,671 complete, sequential funnel records with usable marketing cost. Counts are recorded customers, not deduplicated people. All findings are descriptive.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Power_BI_project.xlsx, reviewed data/analysis/findings.json and population_sensitivity.csv. Comparable population: 1,671 complete, sequential funnel records with usable marketing cost. Counts are recorded customers, not deduplicated people. All findings are descriptive.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Power_BI_project.xlsx, reviewed data/analysis/findings.json and population_sensitivity.csv. Comparable population: 1,671 complete, sequential funnel records with usable marketing cost. Counts are recorded customers, not deduplicated people. All findings are descriptive.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Power_BI_project.xlsx, reviewed data/analysis/findings.json and population_sensitivity.csv. Comparable population: 1,671 complete, sequential funnel records with usable marketing cost. Counts are recorded customers, not deduplicated people. All findings are descriptive.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Power_BI_project.xlsx, reviewed data/analysis/findings.json and population_sensitivity.csv. Comparable population: 1,671 complete, sequential funnel records with usable marketing cost. Counts are recorded customers, not deduplicated people. All findings are descriptive.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1e2b2b36246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ff7f8e16e4a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8a437f62740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b1e04b8eb41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b9752113143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afd7b7bae346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094333-7BC5-422A-B09B-ABC88A9BBF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E48618-B721-4DD7-B061-C14FEC2C85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13E7C5-DF46-4B44-AC17-BE5A71C49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739C6D-01E1-4823-9500-F159C6522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7F38F9-4F8C-4C72-9FB7-B76537AF9E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BD465D-7A2D-43BF-B8E6-9A5D03A83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A8B119-825F-4D73-A71D-63D7596F20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1CEF3A-45FA-4872-A6F2-2095E486DE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41F65F-2F53-4CF3-A049-14CE92D9D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AF99F6-AE7C-4B61-ADE2-A8E6464934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5620a7314a4088" /><Relationship Type="http://schemas.openxmlformats.org/officeDocument/2006/relationships/slideLayout" Target="/ppt/slideLayouts/slideLayout1.xml" Id="R0a65e89e8b4d4dca" /><Relationship Type="http://schemas.openxmlformats.org/officeDocument/2006/relationships/slideLayout" Target="/ppt/slideLayouts/slideLayout2.xml" Id="R1201086fda3c45fc" /><Relationship Type="http://schemas.openxmlformats.org/officeDocument/2006/relationships/slideLayout" Target="/ppt/slideLayouts/slideLayout3.xml" Id="R89909d9f6ff94dcb" /><Relationship Type="http://schemas.openxmlformats.org/officeDocument/2006/relationships/slideLayout" Target="/ppt/slideLayouts/slideLayout4.xml" Id="Rcc83c4fd09b64692" /><Relationship Type="http://schemas.openxmlformats.org/officeDocument/2006/relationships/slideLayout" Target="/ppt/slideLayouts/slideLayout5.xml" Id="Rd79a45f9e59e4edc" /><Relationship Type="http://schemas.openxmlformats.org/officeDocument/2006/relationships/slideLayout" Target="/ppt/slideLayouts/slideLayout6.xml" Id="Re5cc5f23365840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65e89e8b4d4dca"/>
    <p:sldLayoutId xmlns:r="http://schemas.openxmlformats.org/officeDocument/2006/relationships" id="2147483650" r:id="R1201086fda3c45fc"/>
    <p:sldLayoutId xmlns:r="http://schemas.openxmlformats.org/officeDocument/2006/relationships" id="2147483651" r:id="R89909d9f6ff94dcb"/>
    <p:sldLayoutId xmlns:r="http://schemas.openxmlformats.org/officeDocument/2006/relationships" id="2147483652" r:id="Rcc83c4fd09b64692"/>
    <p:sldLayoutId xmlns:r="http://schemas.openxmlformats.org/officeDocument/2006/relationships" id="2147483653" r:id="Rd79a45f9e59e4edc"/>
    <p:sldLayoutId xmlns:r="http://schemas.openxmlformats.org/officeDocument/2006/relationships" id="2147483654" r:id="Re5cc5f23365840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8137f7a124676" /><Relationship Type="http://schemas.openxmlformats.org/officeDocument/2006/relationships/notesSlide" Target="/ppt/notesSlides/notesSlide1.xml" Id="R8c0b48c3f43541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187420485143f2" /><Relationship Type="http://schemas.openxmlformats.org/officeDocument/2006/relationships/notesSlide" Target="/ppt/notesSlides/notesSlide2.xml" Id="R917744c3988d44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b85ab8c674a21" /><Relationship Type="http://schemas.openxmlformats.org/officeDocument/2006/relationships/chart" Target="/ppt/slides/charts/chart1.xml" Id="R69f69f4cb5414f5c" /><Relationship Type="http://schemas.openxmlformats.org/officeDocument/2006/relationships/notesSlide" Target="/ppt/notesSlides/notesSlide3.xml" Id="Rb1bd19734af941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3b272c60e24f3b" /><Relationship Type="http://schemas.openxmlformats.org/officeDocument/2006/relationships/chart" Target="/ppt/slides/charts/chart2.xml" Id="R1c86ccb19f1345bc" /><Relationship Type="http://schemas.openxmlformats.org/officeDocument/2006/relationships/notesSlide" Target="/ppt/notesSlides/notesSlide4.xml" Id="R4c6d222905be4f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a7284a5c004087" /><Relationship Type="http://schemas.openxmlformats.org/officeDocument/2006/relationships/chart" Target="/ppt/slides/charts/chart3.xml" Id="Rbb6d4ab5e3cc4067" /><Relationship Type="http://schemas.openxmlformats.org/officeDocument/2006/relationships/notesSlide" Target="/ppt/notesSlides/notesSlide5.xml" Id="Rbc665c6366d34e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a810e6c7c4951" /><Relationship Type="http://schemas.openxmlformats.org/officeDocument/2006/relationships/notesSlide" Target="/ppt/notesSlides/notesSlide6.xml" Id="Rfa571c3f010d4a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eacfccf6e14f0b" /><Relationship Type="http://schemas.openxmlformats.org/officeDocument/2006/relationships/notesSlide" Target="/ppt/notesSlides/notesSlide7.xml" Id="R32646362fb874b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55dcb9b084d73" /><Relationship Type="http://schemas.openxmlformats.org/officeDocument/2006/relationships/notesSlide" Target="/ppt/notesSlides/notesSlide8.xml" Id="Ra144987a25b74a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5124e98e5d48df" /><Relationship Type="http://schemas.openxmlformats.org/officeDocument/2006/relationships/notesSlide" Target="/ppt/notesSlides/notesSlide9.xml" Id="R07560a84095c4f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fad82f45c4fd0" /><Relationship Type="http://schemas.openxmlformats.org/officeDocument/2006/relationships/notesSlide" Target="/ppt/notesSlides/notesSlide10.xml" Id="Rfea5b6c72f0244d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Recorded paying customers</c:v>
          </c:tx>
          <c:spPr>
            <a:solidFill xmlns:a="http://schemas.openxmlformats.org/drawingml/2006/main">
              <a:srgbClr val="007F7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Unvalidated numeric counts</c:v>
                </c:pt>
                <c:pt idx="1">
                  <c:v>Consistent funnel</c:v>
                </c:pt>
                <c:pt idx="2">
                  <c:v>Funnel and usable cost</c:v>
                </c:pt>
                <c:pt idx="3">
                  <c:v>Also requires trusted date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607</c:v>
                </c:pt>
                <c:pt idx="1">
                  <c:v>108</c:v>
                </c:pt>
                <c:pt idx="2">
                  <c:v>106</c:v>
                </c:pt>
                <c:pt idx="3">
                  <c:v>96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732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3EAF0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Recorded paying customers</c:v>
          </c:tx>
          <c:spPr>
            <a:solidFill xmlns:a="http://schemas.openxmlformats.org/drawingml/2006/main">
              <a:srgbClr val="007F78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Paid Search</c:v>
                </c:pt>
                <c:pt idx="1">
                  <c:v>Referral</c:v>
                </c:pt>
                <c:pt idx="2">
                  <c:v>Organic Search</c:v>
                </c:pt>
                <c:pt idx="3">
                  <c:v>Email</c:v>
                </c:pt>
                <c:pt idx="4">
                  <c:v>Affiliate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69</c:v>
                </c:pt>
                <c:pt idx="1">
                  <c:v>13</c:v>
                </c:pt>
                <c:pt idx="2">
                  <c:v>9</c:v>
                </c:pt>
                <c:pt idx="3">
                  <c:v>9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732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3EAF0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Step conversion</c:v>
          </c:tx>
          <c:spPr>
            <a:solidFill xmlns:a="http://schemas.openxmlformats.org/drawingml/2006/main">
              <a:srgbClr val="007F7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Impressions to clicks</c:v>
                </c:pt>
                <c:pt idx="1">
                  <c:v>Clicks to signups</c:v>
                </c:pt>
                <c:pt idx="2">
                  <c:v>Signups to funded</c:v>
                </c:pt>
                <c:pt idx="3">
                  <c:v>Funded to paying</c:v>
                </c:pt>
              </c:strCache>
            </c:strRef>
          </c:cat>
          <c:val>
            <c:numRef>
              <c:f>'Chart Data'!$B$2:$B$5</c:f>
              <c:numCache>
                <c:formatCode>0.00%</c:formatCode>
                <c:ptCount val="4"/>
                <c:pt idx="0">
                  <c:v>0.0298896451527</c:v>
                </c:pt>
                <c:pt idx="1">
                  <c:v>0.10056152971</c:v>
                </c:pt>
                <c:pt idx="2">
                  <c:v>0.122116788321</c:v>
                </c:pt>
                <c:pt idx="3">
                  <c:v>0.0633592349074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732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3EAF0"/>
              </a:solidFill>
              <a:prstDash val="solid"/>
            </a:ln>
          </c:spPr>
        </c:majorGridlines>
        <c:numFmt formatCode="0.0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338E8-4F1F-4909-BED2-898F7928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Marketing efficiency and</a:t>
            </a:r>
          </a:p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customer conversion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E52FA-F0F3-4B44-953D-0378693A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Wealthsimple Canada training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5D9BE-C6F2-477A-B155-1C3C9F28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   Fictional training case • CAD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85BBE-E1AB-4DCC-9267-209F8C8A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A decision framework for acquisition tests</a:t>
            </a:r>
          </a:p>
          <a:p xmlns:a="http://schemas.openxmlformats.org/drawingml/2006/main">
            <a:pPr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and better marketing measurement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B9D67-9C1C-4C82-931F-12AE1FE7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Emmanuel F. Kebodi</a:t>
            </a:r>
          </a:p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28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96223-22B3-4A40-9589-FD1BF683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Scenario data for 2025–2026. No claim of actual company performance.</a:t>
            </a:r>
          </a:p>
        </p:txBody>
      </p:sp>
    </p:spTree>
    <p:extLst>
      <p:ext uri="{BB962C8B-B14F-4D97-AF65-F5344CB8AC3E}">
        <p14:creationId xmlns:p14="http://schemas.microsoft.com/office/powerpoint/2010/main" val="1227042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B2193-FB39-4949-9385-63DD800A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High acquisition cost in the comparable population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419DB-1820-44AA-BE54-F2201EE0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Headline metrics use the same eligible records for costs and customer counts.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B55A7-7DCA-4FFA-9CC1-3EEA210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2   Fictional training case • CAD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9C5B5-3E71-4DE1-AB33-0723F34BAD01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7000875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428875"/>
              </a:tblGrid>
              <a:tr h="6191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Eligible campaign records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1,671 of 2,000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Marketing cost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CAD 426,714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Recorded paying customers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106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Signup-to-paying conversion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0.77%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Blended CAC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CAD 4,026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B0DB0-B1DE-4F2A-8BE4-749C84FD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050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45F1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45F1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45F1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45F1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45F1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45F1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45F1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45F1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45F1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45F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45F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45F14"/>
                </a:solidFill>
                <a:latin typeface="Arial"/>
                <a:ea typeface="Arial"/>
                <a:cs typeface="Arial"/>
              </a:rPr>
              <a:t>329 records excluded</a:t>
            </a:r>
          </a:p>
          <a:p xmlns:a="http://schemas.openxmlformats.org/drawingml/2006/main">
            <a:pPr>
              <a:defRPr sz="2400" b="1">
                <a:solidFill>
                  <a:srgbClr val="A45F1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45F14"/>
                </a:solidFill>
                <a:latin typeface="Arial"/>
                <a:ea typeface="Arial"/>
                <a:cs typeface="Arial"/>
              </a:rPr>
              <a:t>from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09171-460A-40AC-8897-0A48A8A1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CAD 82,177 of known cost remains visible in the audit population. Six source records still lack a cost value.</a:t>
            </a:r>
          </a:p>
        </p:txBody>
      </p:sp>
    </p:spTree>
    <p:extLst>
      <p:ext uri="{BB962C8B-B14F-4D97-AF65-F5344CB8AC3E}">
        <p14:creationId xmlns:p14="http://schemas.microsoft.com/office/powerpoint/2010/main" val="18095060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1BEBA-ADC6-41D3-9D7F-DE9BBEDA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Validation changes the customer total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A1180-A3FF-469A-A022-42D21A13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Three source rows each claim 100 paying customers with zero funded accounts.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E19A8-4FF9-4425-8AD0-002375DE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3   Fictional training case • CAD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6090EE1-8C37-4D7E-AD3B-7D241F18751B}"/>
              </a:ext>
            </a:extLst>
          </p:cNvPr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7524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f69f4cb5414f5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C41D3-884D-43CD-813E-E1E02DA0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All 2,000 rows retained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C818D-8594-48B2-A2CC-20AFB98E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No absolute-value repair of negatives.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Missing values remain distinct from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Cohort sequence is an explicit assumption.</a:t>
            </a:r>
          </a:p>
        </p:txBody>
      </p:sp>
    </p:spTree>
    <p:extLst>
      <p:ext uri="{BB962C8B-B14F-4D97-AF65-F5344CB8AC3E}">
        <p14:creationId xmlns:p14="http://schemas.microsoft.com/office/powerpoint/2010/main" val="1824892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206AB-496F-4916-A264-73782802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Paid Search records 69 of 106 paying customers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A275E-B8F3-4821-8A88-52AD055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Email and Referral show lower observed CAC, with only 9 and 13 customers.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ED112-56D4-488A-9DA1-C2BDA408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   Fictional training case • CAD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4F843D0-847D-43D3-A9E8-20D064380695}"/>
              </a:ext>
            </a:extLst>
          </p:cNvPr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7239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86ccb19f1345b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37BAC-3090-497F-B75C-D5BDFFD5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CAC by channel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BB403-E6E3-46A9-9488-1BB63BC7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09875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Paid Search     CAD 882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Referral           CAD 346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Organic Search CAD 749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Email               CAD 327</a:t>
            </a:r>
          </a:p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Affiliate         CAD 2,433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1D2A0-42B3-4BA1-B309-CF7E7675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911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Six channels have zero recorded paying customers. Their CAC is undefined.</a:t>
            </a:r>
          </a:p>
        </p:txBody>
      </p:sp>
    </p:spTree>
    <p:extLst>
      <p:ext uri="{BB962C8B-B14F-4D97-AF65-F5344CB8AC3E}">
        <p14:creationId xmlns:p14="http://schemas.microsoft.com/office/powerpoint/2010/main" val="1647285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C21CB-94BE-4A83-9617-C41D6978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0.77% of signups become recorded paying customers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6656F-01C4-4B54-9688-39E3E3D6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4.56m impressions / 136,235 clicks / 13,700 signups / 1,673 funded / 106 paying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C4718-979B-4302-B9C0-D41F1FC2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5   Fictional training case • CAD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060B77D-B803-40C6-824F-2B964C5F79E6}"/>
              </a:ext>
            </a:extLst>
          </p:cNvPr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7429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6d4ab5e3cc406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504C6-0259-4F93-A5D2-3AF5E912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12,027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73EF2-8FB4-4050-94F6-868D4E4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signups do not reach funding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73505-6BDE-45F7-96DE-CC37DFD0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1,567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A165F-3D17-477A-BF9A-68BD8B41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funded accounts do not reach payment</a:t>
            </a:r>
          </a:p>
        </p:txBody>
      </p:sp>
    </p:spTree>
    <p:extLst>
      <p:ext uri="{BB962C8B-B14F-4D97-AF65-F5344CB8AC3E}">
        <p14:creationId xmlns:p14="http://schemas.microsoft.com/office/powerpoint/2010/main" val="1864532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C632F-DBBC-4BA5-A757-FAEBFB48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Campaign families for review and controlled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CEC17-6050-436D-A43B-AE5AC726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Zero recorded output is a review signal. It does not establish wasted spend.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05B09-E7A5-45FB-BBFC-80771612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6   Fictional training case • CAD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F29B6-C8CA-4042-B74F-446C3B8CA963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524000"/>
                <a:gridCol w="1047750"/>
                <a:gridCol w="4381500"/>
              </a:tblGrid>
              <a:tr h="539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Campaign family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Cost CAD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Paying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step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Investing Explained Pre-roll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25,150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Review objective and lag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Retargeting Carousel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24,491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Review tracking and creative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Finance News Display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23,093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Review attribution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Trade Account Search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17,025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Capped acquisition test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Dormant Lead Nurture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1,408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Small lifecycle test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CEEE3-8072-411C-B4F0-8B9D79E3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19 zero-output families account for CAD 337,080, or 79.0% of eligible cost. No automatic pause or scaling rule is justified.</a:t>
            </a:r>
          </a:p>
        </p:txBody>
      </p:sp>
    </p:spTree>
    <p:extLst>
      <p:ext uri="{BB962C8B-B14F-4D97-AF65-F5344CB8AC3E}">
        <p14:creationId xmlns:p14="http://schemas.microsoft.com/office/powerpoint/2010/main" val="140811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38413-7345-448D-888A-44EF6BBD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Audience differences need validation before scaling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6CBF7-EFE5-40FB-BCC8-ED7EC919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Small customer counts and channel mix limit conclusions about segments, regions and devices.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FA19D-E136-418A-BD0A-8E51BE18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7   Fictional training case • CAD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0FF4E-E7BE-4406-BD7C-6485B0716AED}"/>
              </a:ext>
            </a:extLst>
          </p:cNvPr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762250"/>
                <a:gridCol w="2952750"/>
              </a:tblGrid>
              <a:tr h="571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Paying customers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CAC CAD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First-time Investors / Parents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19 / 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2,685 / 10,999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Quebec / Ontario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17 / 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2,655 / 6,869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Desktop / iOS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30 / 15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2,866 / 5,405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Mortgage product focus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20,919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835E2-DDEC-4B43-9B67-97401567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Use product-specific observation windows and matched comparisons. Aggregate rankings do not prove targeting quality or causal effects.</a:t>
            </a:r>
          </a:p>
        </p:txBody>
      </p:sp>
    </p:spTree>
    <p:extLst>
      <p:ext uri="{BB962C8B-B14F-4D97-AF65-F5344CB8AC3E}">
        <p14:creationId xmlns:p14="http://schemas.microsoft.com/office/powerpoint/2010/main" val="693919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52A6C-A164-4D0A-9C17-492897E4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First-month returns do not establish lifetime profit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84A62-3B9F-43E2-B055-C6C22265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Known revenue is CAD 4,689 on 1,646 eligible records with a usable revenue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B1147-E5A8-4715-B923-214457CD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8   Fictional training case • CAD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EB272-0D0A-458D-ACC1-65D99E073F70}"/>
              </a:ext>
            </a:extLst>
          </p:cNvPr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0"/>
                <a:gridCol w="2952750"/>
              </a:tblGrid>
              <a:tr h="5524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 on matched records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Revenue / ad spend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0.0135x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Revenue / total marketing cost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0.0112x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Revenue less total marketing cost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CAD −414,869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Average revenue per recorded paying customer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CAD 44.66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5B478-72BC-4146-8667-72BAD753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1,886 source rows report zero revenue; 33 are missing or invalid. Zero is not proof of failed attribution. Margin, later revenue and retention are unavailable.</a:t>
            </a:r>
          </a:p>
        </p:txBody>
      </p:sp>
    </p:spTree>
    <p:extLst>
      <p:ext uri="{BB962C8B-B14F-4D97-AF65-F5344CB8AC3E}">
        <p14:creationId xmlns:p14="http://schemas.microsoft.com/office/powerpoint/2010/main" val="14527631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D6FA9-09F7-40E9-8E23-589B2A8E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Seven Power BI views support the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3A957-6CE0-4B69-82B3-6EF3B635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Shared channel, campaign, period, province, segment, device and product filters.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C31C3-F582-4D63-A650-86788FF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9   Fictional training case • CAD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EA2F8-A164-4E06-A4FF-62F2E21A6452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953250"/>
              </a:tblGrid>
              <a:tr h="476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Dashboard page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supported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Data Quality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Which records and fields need correction?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Spend and CAC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Where is cost concentrated?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Conversion Funnel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Which funnel transitions need testing?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Channel and Campaign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Which comparisons justify further investigation?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Revenue and ROAS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What does first-month revenue cover?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Audience and Region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How do product, device and audience results differ?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Budget Optimization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Which hypotheses should receive a capped test?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048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BE847-3B9A-483D-AA2D-205EC77A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Measurement repair precedes budget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CC7ED-484E-4A15-80E8-763A023A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Suggested sequence and accountable teams. Timing starts when the project is adopted.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EDDD7-AAC3-4FF6-A822-32EF6C5A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   Fictional training case • CAD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85FDA-365E-489E-8209-865086D2BB08}"/>
              </a:ext>
            </a:extLst>
          </p:cNvPr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571750"/>
                <a:gridCol w="6762750"/>
              </a:tblGrid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 and success measure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T w="5715">
                      <a:solidFill>
                        <a:srgbClr val="D7E0E7"/>
                      </a:solidFill>
                      <a:prstDash val="solid"/>
                    </a:lnT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Weeks 1–2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Analytics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Resolve anomalies and identity collisions; track exclusions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Weeks 2–4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Growth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Capped channel tests; incremental customers and CAC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Weeks 2–4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Product and lifecycle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Funding and activation tests; stage conversion rates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Monthly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7E0E7"/>
                      </a:solidFill>
                      <a:prstDash val="solid"/>
                    </a:lnL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Finance and marketing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Set payback-based CAC limits; review matched returns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7E0E7"/>
                      </a:solidFill>
                      <a:prstDash val="solid"/>
                    </a:lnR>
                    <a:lnB w="5715">
                      <a:solidFill>
                        <a:srgbClr val="D7E0E7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CEC6A-42A3-40B1-BB7F-DE8C4369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No guaranteed revenue uplift or CAC saving is claimed. Approve test budgets and success criteria before moving spend.</a:t>
            </a:r>
          </a:p>
        </p:txBody>
      </p:sp>
    </p:spTree>
    <p:extLst>
      <p:ext uri="{BB962C8B-B14F-4D97-AF65-F5344CB8AC3E}">
        <p14:creationId xmlns:p14="http://schemas.microsoft.com/office/powerpoint/2010/main" val="1610969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2026-10-28T12:17:25.9160000Z</dcterms:created>
  <dcterms:modified xsi:type="dcterms:W3CDTF">2026-10-28T12:17:25.9170000Z</dcterms:modified>
</coreProperties>
</file>